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36608" y="932688"/>
            <a:ext cx="329184" cy="329184"/>
          </a:xfrm>
          <a:prstGeom prst="ellipse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80192" y="1810512"/>
            <a:ext cx="219456" cy="219456"/>
          </a:xfrm>
          <a:prstGeom prst="ellipse">
            <a:avLst/>
          </a:prstGeom>
          <a:solidFill>
            <a:srgbClr val="C8A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51392" y="2999232"/>
            <a:ext cx="402336" cy="402336"/>
          </a:xfrm>
          <a:prstGeom prst="ellipse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0" y="4297680"/>
            <a:ext cx="182880" cy="182880"/>
          </a:xfrm>
          <a:prstGeom prst="ellipse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38360" y="5257800"/>
            <a:ext cx="274320" cy="274320"/>
          </a:xfrm>
          <a:prstGeom prst="ellipse">
            <a:avLst/>
          </a:prstGeom>
          <a:solidFill>
            <a:srgbClr val="C8A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0" y="2011680"/>
            <a:ext cx="1188720" cy="1463040"/>
          </a:xfrm>
          <a:prstGeom prst="ellipse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46920" y="233172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29216" y="2414016"/>
            <a:ext cx="128016" cy="128016"/>
          </a:xfrm>
          <a:prstGeom prst="ellipse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2834640"/>
            <a:ext cx="502920" cy="201168"/>
          </a:xfrm>
          <a:prstGeom prst="rect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3401568"/>
            <a:ext cx="256032" cy="347472"/>
          </a:xfrm>
          <a:prstGeom prst="rect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46920" y="3401568"/>
            <a:ext cx="256032" cy="347472"/>
          </a:xfrm>
          <a:prstGeom prst="rect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737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6633"/>
                </a:solidFill>
                <a:latin typeface="Calibri"/>
              </a:rPr>
              <a:t>PREMIUM FAMILIEN-SALZWELT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2C2418"/>
                </a:solidFill>
                <a:latin typeface="Georgia"/>
              </a:rPr>
              <a:t>Saltino</a:t>
            </a:r>
          </a:p>
          <a:p>
            <a:r>
              <a:rPr sz="7200" i="1">
                <a:solidFill>
                  <a:srgbClr val="CC6633"/>
                </a:solidFill>
                <a:latin typeface="Georgia"/>
              </a:rPr>
              <a:t>Spielend gesund atmen.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5A3E"/>
                </a:solidFill>
                <a:latin typeface="Calibri"/>
              </a:rPr>
              <a:t>Modern Organic Family Wellness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645920" cy="109728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Georgia"/>
              </a:rPr>
              <a:t>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68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Luftreinheit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937760"/>
            <a:ext cx="1645920" cy="109728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Georgia"/>
              </a:rPr>
              <a:t>45'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5468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937760"/>
            <a:ext cx="1645920" cy="109728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029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Georgia"/>
              </a:rPr>
              <a:t>3–6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468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Jahre empfohlen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UNSER KONZEPT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>
                <a:solidFill>
                  <a:srgbClr val="2C2418"/>
                </a:solidFill>
                <a:latin typeface="Georgia"/>
              </a:rPr>
              <a:t>Nicht Krankenhaus.</a:t>
            </a:r>
          </a:p>
          <a:p>
            <a:r>
              <a:rPr sz="3400" i="1">
                <a:solidFill>
                  <a:srgbClr val="CC6633"/>
                </a:solidFill>
                <a:latin typeface="Georgia"/>
              </a:rPr>
              <a:t>Nicht Spielplatz. Saltino.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5A3E"/>
                </a:solidFill>
                <a:latin typeface="Calibri"/>
              </a:rPr>
              <a:t>Wir haben einen Ort geschaffen, der Scandinavian Family Design, Wellness-Ästhetik und modernes Café-Feeling vereint — für Eltern, die ihren Kindern etwas Gutes tun wollen, ohne auf eigene Auszeit zu verzichten.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502920"/>
            <a:ext cx="2834640" cy="265176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758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418"/>
                </a:solidFill>
                <a:latin typeface="Calibr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1161288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Scandinavian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45336"/>
            <a:ext cx="22494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Warmer Minimalismus. Natürliche
Materialien. Kein Überfluss.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502920"/>
            <a:ext cx="2834640" cy="265176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0888" y="758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418"/>
                </a:solidFill>
                <a:latin typeface="Calibri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0888" y="1161288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Gesundheit durch Spiel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1545336"/>
            <a:ext cx="22494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Halotherapie in einer Umgebung,
die Kinder begeistert.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429000"/>
            <a:ext cx="2834640" cy="265176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685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418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087368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Lifestyle Marke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4471416"/>
            <a:ext cx="22494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Kein Therapieangebot — ein
Premium Family Wellness Club.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3429000"/>
            <a:ext cx="2834640" cy="265176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3685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C2418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4087368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Mini Microclimate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4471416"/>
            <a:ext cx="22494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Luftqualität sichtbar gemacht.
Das ist High-End.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DIE CHANCE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>
                <a:solidFill>
                  <a:srgbClr val="FFFFFF"/>
                </a:solidFill>
                <a:latin typeface="Georgia"/>
              </a:rPr>
              <a:t>Warum jetzt?</a:t>
            </a:r>
          </a:p>
          <a:p>
            <a:r>
              <a:rPr sz="4400" i="1">
                <a:solidFill>
                  <a:srgbClr val="CC6633"/>
                </a:solidFill>
                <a:latin typeface="Georgia"/>
              </a:rPr>
              <a:t>Warum Saltino?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2606040" cy="2194560"/>
          </a:xfrm>
          <a:prstGeom prst="rect">
            <a:avLst/>
          </a:prstGeom>
          <a:solidFill>
            <a:srgbClr val="3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CC6633"/>
                </a:solidFill>
                <a:latin typeface="Georgia"/>
              </a:rP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der Eltern suchen aktiv
nach gesunden Freizeitangeboten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651760"/>
            <a:ext cx="2606040" cy="2194560"/>
          </a:xfrm>
          <a:prstGeom prst="rect">
            <a:avLst/>
          </a:prstGeom>
          <a:solidFill>
            <a:srgbClr val="3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788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CC6633"/>
                </a:solidFill>
                <a:latin typeface="Georgia"/>
              </a:rPr>
              <a:t>3×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höhere Zahlungsbereitschaft
bei Premium-Wellness-Design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651760"/>
            <a:ext cx="2606040" cy="2194560"/>
          </a:xfrm>
          <a:prstGeom prst="rect">
            <a:avLst/>
          </a:prstGeom>
          <a:solidFill>
            <a:srgbClr val="3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788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CC6633"/>
                </a:solidFill>
                <a:latin typeface="Georgia"/>
              </a:rPr>
              <a:t>€0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Marketingkosten durch
instagrammable Spots &amp; UGC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2651760"/>
            <a:ext cx="2606040" cy="2194560"/>
          </a:xfrm>
          <a:prstGeom prst="rect">
            <a:avLst/>
          </a:prstGeom>
          <a:solidFill>
            <a:srgbClr val="3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2788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CC663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Einnahmequellen in
einer einzigen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5A080"/>
                </a:solidFill>
                <a:latin typeface="Calibri"/>
              </a:rPr>
              <a:t>Eltern zahlen bei Gesundheits- &amp; Kinderkonzepten extrem stark nach Vertrauen &amp; Ästhetik. Saltino sieht hochwertig aus → höherer Preis akzeptiert → mehr Stammkunden → bessere Social-Media-Wirkung.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DIE WELT VON SALTINO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2C2418"/>
                </a:solidFill>
                <a:latin typeface="Georgia"/>
              </a:rPr>
              <a:t>Fünf Zonen.</a:t>
            </a:r>
          </a:p>
          <a:p>
            <a:r>
              <a:rPr sz="3800" i="1">
                <a:solidFill>
                  <a:srgbClr val="CC6633"/>
                </a:solidFill>
                <a:latin typeface="Georgia"/>
              </a:rPr>
              <a:t>Ein Erlebnis.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2212848" cy="4343400"/>
          </a:xfrm>
          <a:prstGeom prst="rect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500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Zone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79192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Salzspielraum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227832"/>
            <a:ext cx="18836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Der Held des Projekts. Weißer Salzboden,
Holzrutschen, Dino-Fußspuren.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074920"/>
            <a:ext cx="1371600" cy="914400"/>
          </a:xfrm>
          <a:prstGeom prst="ellipse">
            <a:avLst/>
          </a:prstGeom>
          <a:solidFill>
            <a:srgbClr val="3A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3784" y="2148840"/>
            <a:ext cx="2212848" cy="43434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23500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Zone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679192"/>
            <a:ext cx="1883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418"/>
                </a:solidFill>
                <a:latin typeface="Georgia"/>
              </a:rPr>
              <a:t>Soft Lounge Café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3264408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Boutique-Café für Eltern. Matcha,
Cappuccino, WLAN, Ruhe.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4648" y="2148840"/>
            <a:ext cx="2212848" cy="43434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3500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Zone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679192"/>
            <a:ext cx="1883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418"/>
                </a:solidFill>
                <a:latin typeface="Georgia"/>
              </a:rPr>
              <a:t>Baby Corner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264408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Speziell für 0–3 Jahre. Sanftes
Raumklima, weiche Materialien.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25512" y="2148840"/>
            <a:ext cx="2212848" cy="43434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0104" y="23500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Zone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2679192"/>
            <a:ext cx="1883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418"/>
                </a:solidFill>
                <a:latin typeface="Georgia"/>
              </a:rPr>
              <a:t>Birthday &amp;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3264408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Exklusive Partys &amp; Gruppenevents.
Hohe Marge, privat buchbar.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66376" y="2148840"/>
            <a:ext cx="2212848" cy="43434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2350008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Zone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679192"/>
            <a:ext cx="1883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418"/>
                </a:solidFill>
                <a:latin typeface="Georgia"/>
              </a:rPr>
              <a:t>Retail Wall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3264408"/>
            <a:ext cx="18836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Salzlampen, Dino-Merch,
Atemwegsprodukte, Limitiertes.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LIVE RAUMKLIMA — MINI MICROCLIMATE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>
                <a:solidFill>
                  <a:srgbClr val="FFFFFF"/>
                </a:solidFill>
                <a:latin typeface="Georgia"/>
              </a:rPr>
              <a:t>Das macht</a:t>
            </a:r>
          </a:p>
          <a:p>
            <a:r>
              <a:rPr sz="4400" i="1">
                <a:solidFill>
                  <a:srgbClr val="CC6633"/>
                </a:solidFill>
                <a:latin typeface="Georgia"/>
              </a:rPr>
              <a:t>den Unterschied.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C4A3"/>
                </a:solidFill>
                <a:latin typeface="Calibri"/>
              </a:rPr>
              <a:t>Wenn Saltino die Luftqualität sichtbar macht, wird aus einem Spielplatz
ein modernes Family Wellness Konzept — und das verändert die Zahlungsbereitschaft massiv.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Luftreinheit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2377440" cy="54864"/>
          </a:xfrm>
          <a:prstGeom prst="rect">
            <a:avLst/>
          </a:prstGeom>
          <a:solidFill>
            <a:srgbClr val="4A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2353665" cy="54864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3383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3.2µm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Salzpartikel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4434840"/>
            <a:ext cx="2377440" cy="54864"/>
          </a:xfrm>
          <a:prstGeom prst="rect">
            <a:avLst/>
          </a:prstGeom>
          <a:solidFill>
            <a:srgbClr val="4A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434840"/>
            <a:ext cx="1901952" cy="54864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22°C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Temperatur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434840"/>
            <a:ext cx="2377440" cy="54864"/>
          </a:xfrm>
          <a:prstGeom prst="rect">
            <a:avLst/>
          </a:prstGeom>
          <a:solidFill>
            <a:srgbClr val="4A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434840"/>
            <a:ext cx="1545336" cy="54864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33832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55%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Luftfeuchtigkeit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4434840"/>
            <a:ext cx="2377440" cy="54864"/>
          </a:xfrm>
          <a:prstGeom prst="rect">
            <a:avLst/>
          </a:prstGeom>
          <a:solidFill>
            <a:srgbClr val="4A3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4434840"/>
            <a:ext cx="1307592" cy="54864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6850"/>
                </a:solidFill>
                <a:latin typeface="Calibri"/>
              </a:rPr>
              <a:t>Optimales Raumklima für Atemwege — kontinuierlich überwacht und für Gäste sichtbar.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SOCIAL MEDIA &amp; REICHWEITE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2C2418"/>
                </a:solidFill>
                <a:latin typeface="Georgia"/>
              </a:rPr>
              <a:t>Gebaut um geteilt</a:t>
            </a:r>
          </a:p>
          <a:p>
            <a:r>
              <a:rPr sz="3800" i="1">
                <a:solidFill>
                  <a:srgbClr val="CC6633"/>
                </a:solidFill>
                <a:latin typeface="Georgia"/>
              </a:rPr>
              <a:t>zu werden.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2148840" cy="411480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Calibri"/>
              </a:rPr>
              <a:t>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418"/>
                </a:solidFill>
                <a:latin typeface="Georgia"/>
              </a:rPr>
              <a:t>Das Dino-Ei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Riesiges begehbares Ei.
Perfekte 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286000"/>
            <a:ext cx="2148840" cy="4114800"/>
          </a:xfrm>
          <a:prstGeom prst="rect">
            <a:avLst/>
          </a:prstGeom>
          <a:solidFill>
            <a:srgbClr val="3D2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Calibri"/>
              </a:rPr>
              <a:t>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108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Salz-Vulkan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703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Puffende Salzkristalle.
Wow-Moment.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286000"/>
            <a:ext cx="2148840" cy="4114800"/>
          </a:xfrm>
          <a:prstGeom prst="rect">
            <a:avLst/>
          </a:prstGeom>
          <a:solidFill>
            <a:srgbClr val="1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Calibri"/>
              </a:rPr>
              <a:t>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08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Kristall-Höhle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703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Salzwände mit Ambienzlicht.
Magisch &amp; ruhig.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286000"/>
            <a:ext cx="2148840" cy="41148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Calibri"/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108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</a:rPr>
              <a:t>Neon-Schild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703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C4A3"/>
                </a:solidFill>
                <a:latin typeface="Calibri"/>
              </a:rPr>
              <a:t>Spielend gesund atmen.
Gratis Marketing.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20" y="2286000"/>
            <a:ext cx="2148840" cy="4114800"/>
          </a:xfrm>
          <a:prstGeom prst="rect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51460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C2418"/>
                </a:solidFill>
                <a:latin typeface="Calibri"/>
              </a:rPr>
              <a:t>☁️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10896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418"/>
                </a:solidFill>
                <a:latin typeface="Georgia"/>
              </a:rPr>
              <a:t>Wolkenwand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70332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3D-Wolken mit Licht.
Instagrammable.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97A"/>
                </a:solidFill>
                <a:latin typeface="Calibri"/>
              </a:rPr>
              <a:t>Jeder Spot ist ein organischer Content-Creator → kostenlose Reichweite · UGC · Storys · Familienposts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DESIGNSPRACHE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2C2418"/>
                </a:solidFill>
                <a:latin typeface="Georgia"/>
              </a:rPr>
              <a:t>Modern Organic</a:t>
            </a:r>
          </a:p>
          <a:p>
            <a:r>
              <a:rPr sz="4000" i="1">
                <a:solidFill>
                  <a:srgbClr val="CC6633"/>
                </a:solidFill>
                <a:latin typeface="Georgia"/>
              </a:rPr>
              <a:t>Family Wellness.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5A3E"/>
                </a:solidFill>
                <a:latin typeface="Calibri"/>
              </a:rPr>
              <a:t>Farbpalette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88920"/>
            <a:ext cx="530352" cy="530352"/>
          </a:xfrm>
          <a:prstGeom prst="ellipse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Soft White</a:t>
            </a:r>
          </a:p>
        </p:txBody>
      </p:sp>
      <p:sp>
        <p:nvSpPr>
          <p:cNvPr id="9" name="Oval 8"/>
          <p:cNvSpPr/>
          <p:nvPr/>
        </p:nvSpPr>
        <p:spPr>
          <a:xfrm>
            <a:off x="1161288" y="2788920"/>
            <a:ext cx="530352" cy="530352"/>
          </a:xfrm>
          <a:prstGeom prst="ellipse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Warm Beige</a:t>
            </a:r>
          </a:p>
        </p:txBody>
      </p:sp>
      <p:sp>
        <p:nvSpPr>
          <p:cNvPr id="11" name="Oval 10"/>
          <p:cNvSpPr/>
          <p:nvPr/>
        </p:nvSpPr>
        <p:spPr>
          <a:xfrm>
            <a:off x="1819656" y="2788920"/>
            <a:ext cx="530352" cy="530352"/>
          </a:xfrm>
          <a:prstGeom prst="ellipse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Sand</a:t>
            </a:r>
          </a:p>
        </p:txBody>
      </p:sp>
      <p:sp>
        <p:nvSpPr>
          <p:cNvPr id="13" name="Oval 12"/>
          <p:cNvSpPr/>
          <p:nvPr/>
        </p:nvSpPr>
        <p:spPr>
          <a:xfrm>
            <a:off x="2478024" y="2788920"/>
            <a:ext cx="530352" cy="530352"/>
          </a:xfrm>
          <a:prstGeom prst="ellipse">
            <a:avLst/>
          </a:prstGeom>
          <a:solidFill>
            <a:srgbClr val="C8A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6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Light Oak</a:t>
            </a:r>
          </a:p>
        </p:txBody>
      </p:sp>
      <p:sp>
        <p:nvSpPr>
          <p:cNvPr id="15" name="Oval 14"/>
          <p:cNvSpPr/>
          <p:nvPr/>
        </p:nvSpPr>
        <p:spPr>
          <a:xfrm>
            <a:off x="3136392" y="2788920"/>
            <a:ext cx="530352" cy="530352"/>
          </a:xfrm>
          <a:prstGeom prst="ellipse">
            <a:avLst/>
          </a:prstGeom>
          <a:solidFill>
            <a:srgbClr val="B5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Clay</a:t>
            </a:r>
          </a:p>
        </p:txBody>
      </p:sp>
      <p:sp>
        <p:nvSpPr>
          <p:cNvPr id="17" name="Oval 16"/>
          <p:cNvSpPr/>
          <p:nvPr/>
        </p:nvSpPr>
        <p:spPr>
          <a:xfrm>
            <a:off x="3794760" y="2788920"/>
            <a:ext cx="530352" cy="530352"/>
          </a:xfrm>
          <a:prstGeom prst="ellipse">
            <a:avLst/>
          </a:prstGeom>
          <a:solidFill>
            <a:srgbClr val="C9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Terracotta</a:t>
            </a:r>
          </a:p>
        </p:txBody>
      </p:sp>
      <p:sp>
        <p:nvSpPr>
          <p:cNvPr id="19" name="Oval 18"/>
          <p:cNvSpPr/>
          <p:nvPr/>
        </p:nvSpPr>
        <p:spPr>
          <a:xfrm>
            <a:off x="4453128" y="2788920"/>
            <a:ext cx="530352" cy="530352"/>
          </a:xfrm>
          <a:prstGeom prst="ellipse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Burnt Orange</a:t>
            </a:r>
          </a:p>
        </p:txBody>
      </p:sp>
      <p:sp>
        <p:nvSpPr>
          <p:cNvPr id="21" name="Oval 20"/>
          <p:cNvSpPr/>
          <p:nvPr/>
        </p:nvSpPr>
        <p:spPr>
          <a:xfrm>
            <a:off x="5111496" y="2788920"/>
            <a:ext cx="530352" cy="530352"/>
          </a:xfrm>
          <a:prstGeom prst="ellipse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3383280"/>
            <a:ext cx="658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5A3E"/>
                </a:solidFill>
                <a:latin typeface="Calibri"/>
              </a:rPr>
              <a:t>Sage 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5A3E"/>
                </a:solidFill>
                <a:latin typeface="Calibri"/>
              </a:rPr>
              <a:t>Materialien &amp; Gefühl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92040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Helles Holz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0552" y="4892040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1992" y="4937760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Naturstein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8184" y="4892040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4937760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Leinentextilien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5816" y="4892040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77256" y="4937760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Matte Oberflächen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67528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413248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Organische Formen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0552" y="5367528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21992" y="5413248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Indirekte Beleuchtung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58184" y="5367528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9624" y="5413248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Salzwände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5816" y="5367528"/>
            <a:ext cx="1536192" cy="365760"/>
          </a:xfrm>
          <a:prstGeom prst="rect">
            <a:avLst/>
          </a:prstGeom>
          <a:solidFill>
            <a:srgbClr val="FAF7F2"/>
          </a:solidFill>
          <a:ln w="6350">
            <a:solidFill>
              <a:srgbClr val="D9C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77256" y="5413248"/>
            <a:ext cx="1353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5A3E"/>
                </a:solidFill>
                <a:latin typeface="Calibri"/>
              </a:rPr>
              <a:t>Kork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011680"/>
            <a:ext cx="5303520" cy="438912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2C2418"/>
                </a:solidFill>
                <a:latin typeface="Georgia"/>
              </a:rPr>
              <a:t>Saltino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246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6633"/>
                </a:solidFill>
                <a:latin typeface="Georgia"/>
              </a:rPr>
              <a:t>Spielend gesund atmen.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977639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3E"/>
                </a:solidFill>
                <a:latin typeface="Calibri"/>
              </a:rPr>
              <a:t>Cormorant Garamond — Display
Inter — Body &amp; UI
Warmer Minimalismus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2C2418"/>
                </a:solidFill>
                <a:latin typeface="Georgia"/>
              </a:rPr>
              <a:t>5 Einnahmequellen.</a:t>
            </a:r>
          </a:p>
          <a:p>
            <a:r>
              <a:rPr sz="4000" i="1">
                <a:solidFill>
                  <a:srgbClr val="CC6633"/>
                </a:solidFill>
                <a:latin typeface="Georgia"/>
              </a:rPr>
              <a:t>Eine Location.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40280"/>
            <a:ext cx="2148840" cy="420624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C2418"/>
                </a:solidFill>
                <a:latin typeface="Calibri"/>
              </a:rPr>
              <a:t>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Einzelsession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30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6633"/>
                </a:solidFill>
                <a:latin typeface="Calibri"/>
              </a:rPr>
              <a:t>45 Min · €24 / Kind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142232"/>
            <a:ext cx="1783080" cy="18288"/>
          </a:xfrm>
          <a:prstGeom prst="rect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7024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Standardangebot, täglich,
höchste Frequenz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9776" y="2240280"/>
            <a:ext cx="2148840" cy="420624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24688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C2418"/>
                </a:solidFill>
                <a:latin typeface="Calibri"/>
              </a:rPr>
              <a:t>👨‍👩‍👧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Family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630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6633"/>
                </a:solidFill>
                <a:latin typeface="Calibri"/>
              </a:rPr>
              <a:t>2 Kinder + 1 Elternteil · €54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62656" y="4142232"/>
            <a:ext cx="1783080" cy="18288"/>
          </a:xfrm>
          <a:prstGeom prst="rect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427024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Hauptpaket,
bestes Preis-Erlebnis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6632" y="2240280"/>
            <a:ext cx="2148840" cy="420624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24688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C2418"/>
                </a:solidFill>
                <a:latin typeface="Calibri"/>
              </a:rPr>
              <a:t>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Birthday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630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6633"/>
                </a:solidFill>
                <a:latin typeface="Calibri"/>
              </a:rPr>
              <a:t>Gruppe bis 15 · ab €199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9512" y="4142232"/>
            <a:ext cx="1783080" cy="18288"/>
          </a:xfrm>
          <a:prstGeom prst="rect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9512" y="427024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Höchste Marge,
private Buchung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240280"/>
            <a:ext cx="2148840" cy="420624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24688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C2418"/>
                </a:solidFill>
                <a:latin typeface="Calibri"/>
              </a:rPr>
              <a:t>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Monatsabo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630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6633"/>
                </a:solidFill>
                <a:latin typeface="Calibri"/>
              </a:rPr>
              <a:t>8 Sessions · €79 / Kind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4142232"/>
            <a:ext cx="1783080" cy="18288"/>
          </a:xfrm>
          <a:prstGeom prst="rect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427024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Kundenbindung,
predictable Revenue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10344" y="2240280"/>
            <a:ext cx="2148840" cy="420624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3224" y="246888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2C2418"/>
                </a:solidFill>
                <a:latin typeface="Calibri"/>
              </a:rPr>
              <a:t>🛍️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3224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418"/>
                </a:solidFill>
                <a:latin typeface="Georgia"/>
              </a:rPr>
              <a:t>Retail Wall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3630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6633"/>
                </a:solidFill>
                <a:latin typeface="Calibri"/>
              </a:rPr>
              <a:t>Salzlampen, Merch, Produkte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93224" y="4142232"/>
            <a:ext cx="1783080" cy="18288"/>
          </a:xfrm>
          <a:prstGeom prst="rect">
            <a:avLst/>
          </a:prstGeom>
          <a:solidFill>
            <a:srgbClr val="D9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3224" y="4270248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5A3E"/>
                </a:solidFill>
                <a:latin typeface="Calibri"/>
              </a:rPr>
              <a:t>Passives Einkommen,
Markenbildung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A97A"/>
                </a:solidFill>
                <a:latin typeface="Calibri"/>
              </a:rPr>
              <a:t>Saltino ist kein Spielraum — das ist eine Lifestyle-Familienmarke mit mehreren stabilen Einnahmequellen.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97A"/>
                </a:solidFill>
                <a:latin typeface="Calibri"/>
              </a:rPr>
              <a:t>DAS MASKOTTCHEN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>
                <a:solidFill>
                  <a:srgbClr val="2C2418"/>
                </a:solidFill>
                <a:latin typeface="Georgia"/>
              </a:rPr>
              <a:t>Dino trifft</a:t>
            </a:r>
          </a:p>
          <a:p>
            <a:r>
              <a:rPr sz="5200" i="1">
                <a:solidFill>
                  <a:srgbClr val="CC6633"/>
                </a:solidFill>
                <a:latin typeface="Georgia"/>
              </a:rPr>
              <a:t>Wellness.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A3E"/>
                </a:solidFill>
                <a:latin typeface="Calibri"/>
              </a:rPr>
              <a:t>Clean · Soft · Modern · Emotional
Wie eine moderne Kinderbuchmarke. Kleine runde Formen, minimalistische Augen, sanfte Farben. Kein billiger Cartoon — ein emotionaler Markencharakter, der auf jeder Kommunikation auftaucht.</a:t>
            </a:r>
          </a:p>
        </p:txBody>
      </p:sp>
      <p:sp>
        <p:nvSpPr>
          <p:cNvPr id="7" name="Oval 6"/>
          <p:cNvSpPr/>
          <p:nvPr/>
        </p:nvSpPr>
        <p:spPr>
          <a:xfrm>
            <a:off x="7132320" y="1828800"/>
            <a:ext cx="1005840" cy="1234440"/>
          </a:xfrm>
          <a:prstGeom prst="ellipse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5532" y="2075688"/>
            <a:ext cx="59436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16291" y="2146096"/>
            <a:ext cx="267462" cy="144018"/>
          </a:xfrm>
          <a:prstGeom prst="ellipse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83196" y="2939796"/>
            <a:ext cx="221284" cy="345643"/>
          </a:xfrm>
          <a:prstGeom prst="rect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5532" y="2939796"/>
            <a:ext cx="221284" cy="345643"/>
          </a:xfrm>
          <a:prstGeom prst="rect">
            <a:avLst/>
          </a:prstGeom>
          <a:solidFill>
            <a:srgbClr val="8F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0" y="1463040"/>
            <a:ext cx="1280160" cy="1554480"/>
          </a:xfrm>
          <a:prstGeom prst="ellipse">
            <a:avLst/>
          </a:prstGeom>
          <a:solidFill>
            <a:srgbClr val="B5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90888" y="1773936"/>
            <a:ext cx="777240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61880" y="1858426"/>
            <a:ext cx="349758" cy="172821"/>
          </a:xfrm>
          <a:prstGeom prst="ellipse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78824" y="2862072"/>
            <a:ext cx="281635" cy="435254"/>
          </a:xfrm>
          <a:prstGeom prst="rect">
            <a:avLst/>
          </a:prstGeom>
          <a:solidFill>
            <a:srgbClr val="B5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90888" y="2862072"/>
            <a:ext cx="281635" cy="435254"/>
          </a:xfrm>
          <a:prstGeom prst="rect">
            <a:avLst/>
          </a:prstGeom>
          <a:solidFill>
            <a:srgbClr val="B5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0" y="1828800"/>
            <a:ext cx="914400" cy="1097280"/>
          </a:xfrm>
          <a:prstGeom prst="ellipse">
            <a:avLst/>
          </a:prstGeom>
          <a:solidFill>
            <a:srgbClr val="C8A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44200" y="2048256"/>
            <a:ext cx="56692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68924" y="2112629"/>
            <a:ext cx="255117" cy="131673"/>
          </a:xfrm>
          <a:prstGeom prst="ellipse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78440" y="2816352"/>
            <a:ext cx="201168" cy="307238"/>
          </a:xfrm>
          <a:prstGeom prst="rect">
            <a:avLst/>
          </a:prstGeom>
          <a:solidFill>
            <a:srgbClr val="C8A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44200" y="2816352"/>
            <a:ext cx="201168" cy="307238"/>
          </a:xfrm>
          <a:prstGeom prst="rect">
            <a:avLst/>
          </a:prstGeom>
          <a:solidFill>
            <a:srgbClr val="C8A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035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3E"/>
                </a:solidFill>
                <a:latin typeface="Calibri"/>
              </a:rPr>
              <a:t>✓  Runde, organische Körperformen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144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3E"/>
                </a:solidFill>
                <a:latin typeface="Calibri"/>
              </a:rPr>
              <a:t>✓  Minimalistische Augen — kein Mund-Overload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253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3E"/>
                </a:solidFill>
                <a:latin typeface="Calibri"/>
              </a:rPr>
              <a:t>✓  Sanfte Farben aus der Saltino-Palette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3620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3E"/>
                </a:solidFill>
                <a:latin typeface="Calibri"/>
              </a:rPr>
              <a:t>✓  Kein aggressiver Cartoon-Stil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5A3E"/>
                </a:solidFill>
                <a:latin typeface="Calibri"/>
              </a:rPr>
              <a:t>✓  Emotional &amp; zugänglich für 0–8 Jahre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CC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2C2418"/>
                </a:solidFill>
                <a:latin typeface="Calibri"/>
              </a:rPr>
              <a:t>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SALTINO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AA"/>
                </a:solidFill>
                <a:latin typeface="Calibri"/>
              </a:rPr>
              <a:t>Premium Familien-Salzwelt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Georgia"/>
              </a:rPr>
              <a:t>spielend gesund atmen.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Georgia"/>
              </a:rPr>
              <a:t>Bereit für
das Erlebnis?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2461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C4A3"/>
                </a:solidFill>
                <a:latin typeface="Calibri"/>
              </a:rPr>
              <a:t>Saltino ist nicht nur ein Salzraum — es ist eine Lifestyle-Familienmarke,
die Vertrauen, Ästhetik und Gesundheit vereint.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5196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97A"/>
                </a:solidFill>
                <a:latin typeface="Calibri"/>
              </a:rPr>
              <a:t>→  Location &amp; Konzept finalisieren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654296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97A"/>
                </a:solidFill>
                <a:latin typeface="Calibri"/>
              </a:rPr>
              <a:t>→  Prototyp-Session mit Testfamilien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05663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97A"/>
                </a:solidFill>
                <a:latin typeface="Calibri"/>
              </a:rPr>
              <a:t>→  Launch-Kommunikation &amp; Social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45896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97A"/>
                </a:solidFill>
                <a:latin typeface="Calibri"/>
              </a:rPr>
              <a:t>→  Eröffnung &amp; PR-Kampagne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645566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6850"/>
                </a:solidFill>
                <a:latin typeface="Calibri"/>
              </a:rPr>
              <a:t>saltino.de  ·  info@saltino.de  ·  +49 30 123 456 789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